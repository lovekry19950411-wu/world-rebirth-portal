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320040"/>
            <a:ext cx="4572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98348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>
                <a:latin typeface="Microsoft JhengHei"/>
              </a:rPr>
              <a:t>華瑞絲俱樂部 HARIS</a:t>
            </a:r>
          </a:p>
          <a:p>
            <a:r>
              <a:rPr sz="1800">
                <a:latin typeface="Microsoft JhengHei"/>
              </a:rPr>
              <a:t>華株式會社 · 企業與會員生態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latin typeface="Microsoft JhengHei"/>
              </a:rPr>
              <a:t>品牌精神</a:t>
            </a:r>
          </a:p>
        </p:txBody>
      </p:sp>
      <p:pic>
        <p:nvPicPr>
          <p:cNvPr id="3" name="Picture 2" descr="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1097280"/>
            <a:ext cx="4572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105156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Microsoft JhengHei"/>
              </a:rPr>
              <a:t>Discover the brilliance and stories of precious gemstones.</a:t>
            </a:r>
          </a:p>
          <a:p>
            <a:pPr/>
            <a:r>
              <a:rPr sz="1700">
                <a:latin typeface="Microsoft JhengHei"/>
              </a:rPr>
              <a:t>Embrace the Light of Hope</a:t>
            </a:r>
          </a:p>
          <a:p>
            <a:pPr/>
            <a:r>
              <a:rPr sz="1700">
                <a:latin typeface="Microsoft JhengHei"/>
              </a:rPr>
              <a:t>H = Hope｜R = Radiance</a:t>
            </a:r>
          </a:p>
          <a:p>
            <a:pPr/>
            <a:r>
              <a:rPr sz="1700">
                <a:latin typeface="Microsoft JhengHei"/>
              </a:rPr>
              <a:t>HARIS 傳遞希望與光輝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latin typeface="Microsoft JhengHei"/>
              </a:rPr>
              <a:t>服務通路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Microsoft JhengHei"/>
              </a:rPr>
              <a:t>官方網站與會員平台</a:t>
            </a:r>
          </a:p>
          <a:p>
            <a:pPr/>
            <a:r>
              <a:rPr sz="1700">
                <a:latin typeface="Microsoft JhengHei"/>
              </a:rPr>
              <a:t>行動裝置瀏覽</a:t>
            </a:r>
          </a:p>
          <a:p>
            <a:pPr/>
            <a:r>
              <a:rPr sz="1700">
                <a:latin typeface="Microsoft JhengHei"/>
              </a:rPr>
              <a:t>線下活動與展示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latin typeface="Microsoft JhengHei"/>
              </a:rPr>
              <a:t>集團事業版圖</a:t>
            </a:r>
          </a:p>
        </p:txBody>
      </p:sp>
      <p:pic>
        <p:nvPicPr>
          <p:cNvPr id="3" name="Picture 2" descr="m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1097280"/>
            <a:ext cx="4572000" cy="32272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105156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Microsoft JhengHei"/>
              </a:rPr>
              <a:t>礦山 · 藍寶石開採與溯源</a:t>
            </a:r>
          </a:p>
          <a:p>
            <a:pPr/>
            <a:r>
              <a:rPr sz="1700">
                <a:latin typeface="Microsoft JhengHei"/>
              </a:rPr>
              <a:t>華健康 · 醫美與保養品</a:t>
            </a:r>
          </a:p>
          <a:p>
            <a:pPr/>
            <a:r>
              <a:rPr sz="1700">
                <a:latin typeface="Microsoft JhengHei"/>
              </a:rPr>
              <a:t>不動產布局</a:t>
            </a:r>
          </a:p>
          <a:p>
            <a:pPr/>
            <a:r>
              <a:rPr sz="1700">
                <a:latin typeface="Microsoft JhengHei"/>
              </a:rPr>
              <a:t>華投資會社 · 金融科技與資訊工具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latin typeface="Microsoft JhengHei"/>
              </a:rPr>
              <a:t>藍寶石與產地</a:t>
            </a:r>
          </a:p>
        </p:txBody>
      </p:sp>
      <p:pic>
        <p:nvPicPr>
          <p:cNvPr id="3" name="Picture 2" descr="min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1097280"/>
            <a:ext cx="4572000" cy="30492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105156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Microsoft JhengHei"/>
              </a:rPr>
              <a:t>產地開採與洗選作業</a:t>
            </a:r>
          </a:p>
          <a:p>
            <a:pPr/>
            <a:r>
              <a:rPr sz="1700">
                <a:latin typeface="Microsoft JhengHei"/>
              </a:rPr>
              <a:t>斯里蘭卡礦區合作開發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latin typeface="Microsoft JhengHei"/>
              </a:rPr>
              <a:t>產品與服務</a:t>
            </a:r>
          </a:p>
        </p:txBody>
      </p:sp>
      <p:pic>
        <p:nvPicPr>
          <p:cNvPr id="3" name="Picture 2" descr="r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1097280"/>
            <a:ext cx="4572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105156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Microsoft JhengHei"/>
              </a:rPr>
              <a:t>CGL 鑑定、設計師訂製、鑲嵌</a:t>
            </a:r>
          </a:p>
          <a:p>
            <a:pPr/>
            <a:r>
              <a:rPr sz="1700">
                <a:latin typeface="Microsoft JhengHei"/>
              </a:rPr>
              <a:t>高級珠寶與舊換新服務</a:t>
            </a:r>
          </a:p>
          <a:p>
            <a:pPr/>
            <a:r>
              <a:rPr sz="1700">
                <a:latin typeface="Microsoft JhengHei"/>
              </a:rPr>
              <a:t>定價與交易幣別：美金 USD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latin typeface="Microsoft JhengHei"/>
              </a:rPr>
              <a:t>華健康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Microsoft JhengHei"/>
              </a:rPr>
              <a:t>醫學美容</a:t>
            </a:r>
          </a:p>
          <a:p>
            <a:pPr/>
            <a:r>
              <a:rPr sz="1700">
                <a:latin typeface="Microsoft JhengHei"/>
              </a:rPr>
              <a:t>保養品與健康照護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latin typeface="Microsoft JhengHei"/>
              </a:rPr>
              <a:t>不動產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Microsoft JhengHei"/>
              </a:rPr>
              <a:t>不動產投資與資產配置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latin typeface="Microsoft JhengHei"/>
              </a:rPr>
              <a:t>華投資會社</a:t>
            </a:r>
          </a:p>
        </p:txBody>
      </p:sp>
      <p:pic>
        <p:nvPicPr>
          <p:cNvPr id="3" name="Picture 2" descr="fina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1097280"/>
            <a:ext cx="4572000" cy="24020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105156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Microsoft JhengHei"/>
              </a:rPr>
              <a:t>資訊工具與風控系統開發</a:t>
            </a:r>
          </a:p>
          <a:p>
            <a:pPr/>
            <a:r>
              <a:rPr sz="1700">
                <a:latin typeface="Microsoft JhengHei"/>
              </a:rPr>
              <a:t>投資有風險，本簡報不構成投資建議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latin typeface="Microsoft JhengHei"/>
              </a:rPr>
              <a:t>華瑞絲俱樂部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Microsoft JhengHei"/>
              </a:rPr>
              <a:t>打造萬人規模俱樂部</a:t>
            </a:r>
          </a:p>
          <a:p>
            <a:pPr/>
            <a:r>
              <a:rPr sz="1700">
                <a:latin typeface="Microsoft JhengHei"/>
              </a:rPr>
              <a:t>整合集團資源，連結線上與線下體驗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latin typeface="Microsoft JhengHei"/>
              </a:rPr>
              <a:t>會員權益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Microsoft JhengHei"/>
              </a:rPr>
              <a:t>平台購物享七折優惠（適用品項依平台公告）</a:t>
            </a:r>
          </a:p>
          <a:p>
            <a:pPr/>
            <a:r>
              <a:rPr sz="1700">
                <a:latin typeface="Microsoft JhengHei"/>
              </a:rPr>
              <a:t>旅遊福利、餐會、學習會</a:t>
            </a:r>
          </a:p>
          <a:p>
            <a:pPr/>
            <a:r>
              <a:rPr sz="1700">
                <a:latin typeface="Microsoft JhengHei"/>
              </a:rPr>
              <a:t>海外加盟據點參與資格（依個案合約）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latin typeface="Microsoft JhengHei"/>
              </a:rPr>
              <a:t>社會貢獻</a:t>
            </a:r>
          </a:p>
        </p:txBody>
      </p:sp>
      <p:pic>
        <p:nvPicPr>
          <p:cNvPr id="3" name="Picture 2" descr="cs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0420" y="1097280"/>
            <a:ext cx="2464074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105156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Microsoft JhengHei"/>
              </a:rPr>
              <a:t>華瑞絲獎學金 · 單親家庭子女</a:t>
            </a:r>
          </a:p>
          <a:p>
            <a:pPr/>
            <a:r>
              <a:rPr sz="1700">
                <a:latin typeface="Microsoft JhengHei"/>
              </a:rPr>
              <a:t>兒童食堂補助計畫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latin typeface="Microsoft JhengHei"/>
              </a:rPr>
              <a:t>分級與獎勵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60120"/>
          <a:ext cx="1124712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84048"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級別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小區業績（USD）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總業績（USD）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獎勵比例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備註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維持 1 顆寶石庫存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1.5 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3 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13%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維持 1 顆寶石庫存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6 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12 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維持 1 顆寶石庫存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18 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36 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維持 1 顆寶石庫存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V4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55 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110 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維持 1 顆寶石庫存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V5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165 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330 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維持 1 顆寶石庫存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V6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350 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700 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Microsoft JhengHei"/>
                        </a:rPr>
                        <a:t>維持 1 顆寶石庫存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349240"/>
            <a:ext cx="10972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Microsoft JhengHei"/>
              </a:rPr>
              <a:t>V6 以上另享階梯獎勵 0.5%（詳見制度手冊）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latin typeface="Microsoft JhengHei"/>
              </a:rPr>
              <a:t>制度重點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Microsoft JhengHei"/>
              </a:rPr>
              <a:t>各級別寶石庫存顆數與維持條件</a:t>
            </a:r>
          </a:p>
          <a:p>
            <a:pPr/>
            <a:r>
              <a:rPr sz="1700">
                <a:latin typeface="Microsoft JhengHei"/>
              </a:rPr>
              <a:t>晉升依小區業績；以終端銷貨為核心原則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latin typeface="Microsoft JhengHei"/>
              </a:rPr>
              <a:t>費用與支付</a:t>
            </a:r>
          </a:p>
        </p:txBody>
      </p:sp>
      <p:pic>
        <p:nvPicPr>
          <p:cNvPr id="3" name="Picture 2" descr="fina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1097280"/>
            <a:ext cx="4572000" cy="24020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105156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Microsoft JhengHei"/>
              </a:rPr>
              <a:t>礦機費用與分期方案（USD）</a:t>
            </a:r>
          </a:p>
          <a:p>
            <a:pPr/>
            <a:r>
              <a:rPr sz="1700">
                <a:latin typeface="Microsoft JhengHei"/>
              </a:rPr>
              <a:t>支援 USDT（BEP20），手續費依公告</a:t>
            </a:r>
          </a:p>
          <a:p>
            <a:pPr/>
            <a:r>
              <a:rPr sz="1700">
                <a:latin typeface="Microsoft JhengHei"/>
              </a:rPr>
              <a:t>寶石購買、鑑定、訂製、鑲嵌、舊換新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latin typeface="Microsoft JhengHei"/>
              </a:rPr>
              <a:t>鑑賞期與帳務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Microsoft JhengHei"/>
              </a:rPr>
              <a:t>鑑賞期與退貨條件</a:t>
            </a:r>
          </a:p>
          <a:p>
            <a:pPr/>
            <a:r>
              <a:rPr sz="1700">
                <a:latin typeface="Microsoft JhengHei"/>
              </a:rPr>
              <a:t>獎勵發放與帳號管理規則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latin typeface="Microsoft JhengHei"/>
              </a:rPr>
              <a:t>培訓與認證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Microsoft JhengHei"/>
              </a:rPr>
              <a:t>寶石鑑定與銷售培訓</a:t>
            </a:r>
          </a:p>
          <a:p>
            <a:pPr/>
            <a:r>
              <a:rPr sz="1700">
                <a:latin typeface="Microsoft JhengHei"/>
              </a:rPr>
              <a:t>產品導向與事業導向課程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latin typeface="Microsoft JhengHei"/>
              </a:rPr>
              <a:t>入門方案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Microsoft JhengHei"/>
              </a:rPr>
              <a:t>參考門檻：10,000 + 3,000 USD</a:t>
            </a:r>
          </a:p>
          <a:p>
            <a:pPr/>
            <a:r>
              <a:rPr sz="1700">
                <a:latin typeface="Microsoft JhengHei"/>
              </a:rPr>
              <a:t>另有 1,000 + 300 USD 等方案（依套組別為準）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latin typeface="Microsoft JhengHei"/>
              </a:rPr>
              <a:t>聲明與聯絡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700">
                <a:latin typeface="Microsoft JhengHei"/>
              </a:rPr>
              <a:t>權利義務以正式契約與平台公告為準</a:t>
            </a:r>
          </a:p>
          <a:p>
            <a:pPr/>
            <a:r>
              <a:rPr sz="1700">
                <a:latin typeface="Microsoft JhengHei"/>
              </a:rPr>
              <a:t>洽詢專線／官方管道：（請填入）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